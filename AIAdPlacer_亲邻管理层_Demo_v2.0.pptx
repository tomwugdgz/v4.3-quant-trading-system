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74320" cy="2743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5720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6B00"/>
                </a:solidFill>
                <a:latin typeface="微软雅黑"/>
                <a:ea typeface="微软雅黑"/>
              </a:rPr>
              <a:t>AI 投放助手 · 升级版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微软雅黑"/>
                <a:ea typeface="微软雅黑"/>
              </a:rPr>
              <a:t>AIAdPlacer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</a:rPr>
              <a:t>4 端口 Agent 协同 · 真实客户实战 · 维他奶 30 万案例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DEMO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13 页 · 4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114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2026.06.18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亲邻传媒 · 华南区 AI 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演示人：Tom Wugdgz | 数据源：pDOOH 4 端口 MCP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行业痛点：户外广告投放的 4 大难题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v2.0 新增：用数据说话 — ROI 黑箱 + 竞品盲区 + 方案低效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28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2E5C"/>
                </a:solidFill>
                <a:latin typeface="微软雅黑"/>
                <a:ea typeface="微软雅黑"/>
              </a:rPr>
              <a:t>资源分散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317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10万级点位散落在
多个供应商系统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微软雅黑"/>
                <a:ea typeface="微软雅黑"/>
              </a:rPr>
              <a:t>「亲邻签约前，要打 5+ 供应商电话」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554480"/>
            <a:ext cx="548640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79" y="1828800"/>
            <a:ext cx="640080" cy="6400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9202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39" y="1828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2E5C"/>
                </a:solidFill>
                <a:latin typeface="微软雅黑"/>
                <a:ea typeface="微软雅黑"/>
              </a:rPr>
              <a:t>决策靠经验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39" y="23317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选点位/选楼盘/定人群
全凭销售经验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1089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微软雅黑"/>
                <a:ea typeface="微软雅黑"/>
              </a:rPr>
              <a:t>「新销售上手要 1-2 年培养」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548640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2976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2E5C"/>
                </a:solidFill>
                <a:latin typeface="微软雅黑"/>
                <a:ea typeface="微软雅黑"/>
              </a:rPr>
              <a:t>方案制作慢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80060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1 份完整方案 = 2-3 天
PPT + Excel + 沟通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778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微软雅黑"/>
                <a:ea typeface="微软雅黑"/>
              </a:rPr>
              <a:t>「方案响应慢于同行」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4023360"/>
            <a:ext cx="548640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79" y="4297680"/>
            <a:ext cx="640080" cy="6400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4389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39" y="42976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2E5C"/>
                </a:solidFill>
                <a:latin typeface="微软雅黑"/>
                <a:ea typeface="微软雅黑"/>
              </a:rPr>
              <a:t>效果不可见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39" y="480060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🆕 ROI 是黑箱
竞品动态靠打听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55778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微软雅黑"/>
                <a:ea typeface="微软雅黑"/>
              </a:rPr>
              <a:t>「客户续单靠「感觉」」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微软雅黑"/>
                <a:ea typeface="微软雅黑"/>
              </a:rPr>
              <a:t>→ 4 个 Agent 协同（MCP+Tom+ROI+竞品）正好对应这 4 个痛点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4 Agent 架构：每个 Agent 对应一个痛点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MCP / Tom / ROI / 竞品 — 各司其职，串成完整工作流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43200" cy="3931920"/>
          </a:xfrm>
          <a:prstGeom prst="rect">
            <a:avLst/>
          </a:prstGeom>
          <a:solidFill>
            <a:srgbClr val="F5F7FA"/>
          </a:solidFill>
          <a:ln w="25400">
            <a:solidFill>
              <a:srgbClr val="0A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743200" cy="54864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MCP 5002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资源 + 投放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🎯 解决：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微软雅黑"/>
                <a:ea typeface="微软雅黑"/>
              </a:rPr>
              <a:t>痛点1：资源分散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22 工具
门禁 6.6万 / 智能框 8k
客户 27k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1554480"/>
            <a:ext cx="2743200" cy="3931920"/>
          </a:xfrm>
          <a:prstGeom prst="rect">
            <a:avLst/>
          </a:prstGeom>
          <a:solidFill>
            <a:srgbClr val="F5F7FA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5848" y="1554480"/>
            <a:ext cx="2743200" cy="548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1645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Tom 5003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  <a:latin typeface="微软雅黑"/>
                <a:ea typeface="微软雅黑"/>
              </a:rPr>
              <a:t>方案 + CPM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743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🎯 解决：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微软雅黑"/>
                <a:ea typeface="微软雅黑"/>
              </a:rPr>
              <a:t>痛点2：决策靠经验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38728" y="347472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8" y="3566160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6 端点
自动生成方案
CPM 实时追踪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5936" y="1554480"/>
            <a:ext cx="2743200" cy="3931920"/>
          </a:xfrm>
          <a:prstGeom prst="rect">
            <a:avLst/>
          </a:prstGeom>
          <a:solidFill>
            <a:srgbClr val="F5F7FA"/>
          </a:solidFill>
          <a:ln w="25400">
            <a:solidFill>
              <a:srgbClr val="2E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45936" y="1554480"/>
            <a:ext cx="2743200" cy="548640"/>
          </a:xfrm>
          <a:prstGeom prst="rect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645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ROI 5004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EA04A"/>
                </a:solidFill>
                <a:latin typeface="微软雅黑"/>
                <a:ea typeface="微软雅黑"/>
              </a:rPr>
              <a:t>效果预测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2743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🎯 解决：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微软雅黑"/>
                <a:ea typeface="微软雅黑"/>
              </a:rPr>
              <a:t>痛点4：效果黑箱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28816" y="347472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566160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5 端点
三场景 ROI 计算
媒体横向对比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36024" y="1554480"/>
            <a:ext cx="2743200" cy="3931920"/>
          </a:xfrm>
          <a:prstGeom prst="rect">
            <a:avLst/>
          </a:prstGeom>
          <a:solidFill>
            <a:srgbClr val="F5F7F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36024" y="1554480"/>
            <a:ext cx="274320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6024" y="1645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竞品 5005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4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微软雅黑"/>
                <a:ea typeface="微软雅黑"/>
              </a:rPr>
              <a:t>知己知彼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18904" y="2743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🎯 解决：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18904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微软雅黑"/>
                <a:ea typeface="微软雅黑"/>
              </a:rPr>
              <a:t>痛点3：方案慢+盲区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18904" y="347472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18904" y="3566160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7 端点
14 行业 / 50 品牌
最新动态推送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6B00"/>
                </a:solidFill>
                <a:latin typeface="微软雅黑"/>
                <a:ea typeface="微软雅黑"/>
              </a:rPr>
              <a:t>MCP (查资源) → Tom (出方案) → ROI (算效果) → 竞品 (做对比) → 一键下单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数据底座：10 万+ 点位 × 27k 客户 × 14 行业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4 端口 API 共 40 个端点，全部实测可用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5176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6B00"/>
                </a:solidFill>
                <a:latin typeface="微软雅黑"/>
                <a:ea typeface="微软雅黑"/>
              </a:rPr>
              <a:t>10万+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媒体点位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门禁 6.6万
智能框 8k
道闸 1k
LED 1.4k
智能屏 4.5k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65176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7373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A2E5C"/>
                </a:solidFill>
                <a:latin typeface="微软雅黑"/>
                <a:ea typeface="微软雅黑"/>
              </a:rPr>
              <a:t>27,000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客户档案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品牌 + 决策人 + 城市
汽车/快消/餐饮等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265176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2EA04A"/>
                </a:solidFill>
                <a:latin typeface="微软雅黑"/>
                <a:ea typeface="微软雅黑"/>
              </a:rPr>
              <a:t>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头部品牌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比亚迪/小鹏/麦当劳
瑞幸/华为/茅台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554480"/>
            <a:ext cx="265176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7373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E74C3C"/>
                </a:solidFill>
                <a:latin typeface="微软雅黑"/>
                <a:ea typeface="微软雅黑"/>
              </a:rP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API 端点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5002 22 + 5003 6
+ 5004 5 + 5005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📊 媒体资源类型分布（pDOOH 实测数据）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44348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4572000"/>
              </a:tblGrid>
              <a:tr h="3048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媒体类型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数据量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覆盖场景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门禁点位（广告门）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66,308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高净值社区楼宇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智能框（单元门屏）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8,114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中产家庭楼宇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道闸广告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停车场出入口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商场 LED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1,365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核心商圈户外大屏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048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智能屏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按楼盘统计设备数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【实战案例】维他奶 · 华南 30 万投放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v2.0 新增：用真实客户跑通 4 Agent 完整链路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029200" cy="45720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  <a:latin typeface="微软雅黑"/>
                <a:ea typeface="微软雅黑"/>
              </a:rPr>
              <a:t>💬 客户原话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46634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「我们维他奶想做华南地区一波品牌投放，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目标是 25-40 岁年轻白领 + 注重健康的中产家庭，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主打早餐和下午茶场景，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预算 30 万，4 周周期，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希望覆盖广州 + 深圳 + 佛山。」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🤖 AI 实时解析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A04A"/>
                </a:solidFill>
                <a:latin typeface="微软雅黑"/>
                <a:ea typeface="微软雅黑"/>
              </a:rPr>
              <a:t>✓ 行业识别：食品饮料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902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A04A"/>
                </a:solidFill>
                <a:latin typeface="微软雅黑"/>
                <a:ea typeface="微软雅黑"/>
              </a:rPr>
              <a:t>✓ 目标人群：25-40 岁年轻白领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8289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A04A"/>
                </a:solidFill>
                <a:latin typeface="微软雅黑"/>
                <a:ea typeface="微软雅黑"/>
              </a:rPr>
              <a:t>✓ 场景：早餐 + 下午茶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7550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A04A"/>
                </a:solidFill>
                <a:latin typeface="微软雅黑"/>
                <a:ea typeface="微软雅黑"/>
              </a:rPr>
              <a:t>✓ 目标城市：广州 + 深圳 + 佛山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681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A04A"/>
                </a:solidFill>
                <a:latin typeface="微软雅黑"/>
                <a:ea typeface="微软雅黑"/>
              </a:rPr>
              <a:t>✓ 预算规模：30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A04A"/>
                </a:solidFill>
                <a:latin typeface="微软雅黑"/>
                <a:ea typeface="微软雅黑"/>
              </a:rPr>
              <a:t>✓ 时间窗口：4 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6916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2E5C"/>
                </a:solidFill>
                <a:latin typeface="微软雅黑"/>
                <a:ea typeface="微软雅黑"/>
              </a:rPr>
              <a:t>🚀 4 Agent 协同执行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2286000"/>
            <a:ext cx="457200" cy="457200"/>
          </a:xfrm>
          <a:prstGeom prst="ellipse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3774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微软雅黑"/>
                <a:ea typeface="微软雅黑"/>
              </a:rPr>
              <a:t>MCP 5002 · AI 人群洞察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331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1.2 秒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2944368"/>
            <a:ext cx="457200" cy="457200"/>
          </a:xfrm>
          <a:prstGeom prst="ellipse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035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9900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微软雅黑"/>
                <a:ea typeface="微软雅黑"/>
              </a:rPr>
              <a:t>MCP 5002 · 资源点位查询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9900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0.8 秒</a:t>
            </a:r>
          </a:p>
        </p:txBody>
      </p:sp>
      <p:sp>
        <p:nvSpPr>
          <p:cNvPr id="27" name="Oval 26"/>
          <p:cNvSpPr/>
          <p:nvPr/>
        </p:nvSpPr>
        <p:spPr>
          <a:xfrm>
            <a:off x="6126480" y="3602736"/>
            <a:ext cx="457200" cy="457200"/>
          </a:xfrm>
          <a:prstGeom prst="ellipse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6941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6484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微软雅黑"/>
                <a:ea typeface="微软雅黑"/>
              </a:rPr>
              <a:t>Tom 5003 · 方案自动生成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64845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3.5 秒</a:t>
            </a:r>
          </a:p>
        </p:txBody>
      </p:sp>
      <p:sp>
        <p:nvSpPr>
          <p:cNvPr id="31" name="Oval 30"/>
          <p:cNvSpPr/>
          <p:nvPr/>
        </p:nvSpPr>
        <p:spPr>
          <a:xfrm>
            <a:off x="6126480" y="4261104"/>
            <a:ext cx="457200" cy="457200"/>
          </a:xfrm>
          <a:prstGeom prst="ellipse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35254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30682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微软雅黑"/>
                <a:ea typeface="微软雅黑"/>
              </a:rPr>
              <a:t>Tom 5003 · CPM 实时追踪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30682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1.0 秒</a:t>
            </a:r>
          </a:p>
        </p:txBody>
      </p:sp>
      <p:sp>
        <p:nvSpPr>
          <p:cNvPr id="35" name="Oval 34"/>
          <p:cNvSpPr/>
          <p:nvPr/>
        </p:nvSpPr>
        <p:spPr>
          <a:xfrm>
            <a:off x="6126480" y="4919472"/>
            <a:ext cx="457200" cy="457200"/>
          </a:xfrm>
          <a:prstGeom prst="ellipse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5010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9651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微软雅黑"/>
                <a:ea typeface="微软雅黑"/>
              </a:rPr>
              <a:t>ROI 5004 · 三场景 ROI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9651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0.5 秒</a:t>
            </a:r>
          </a:p>
        </p:txBody>
      </p:sp>
      <p:sp>
        <p:nvSpPr>
          <p:cNvPr id="39" name="Oval 38"/>
          <p:cNvSpPr/>
          <p:nvPr/>
        </p:nvSpPr>
        <p:spPr>
          <a:xfrm>
            <a:off x="6126480" y="5577840"/>
            <a:ext cx="457200" cy="457200"/>
          </a:xfrm>
          <a:prstGeom prst="ellipse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5669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623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微软雅黑"/>
                <a:ea typeface="微软雅黑"/>
              </a:rPr>
              <a:t>竞品 5005 · 对标行业动态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6235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0.6 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微软雅黑"/>
                <a:ea typeface="微软雅黑"/>
              </a:rPr>
              <a:t>→ 总耗时 7.6 秒，跑完过去要 3 天的全流程（提速 1440 倍）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MCP 5002 · AI 人群洞察（实测 1.2 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pdooh_audience_insight · 维他奶 → 3 块推荐屏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B00"/>
                </a:solidFill>
                <a:latin typeface="微软雅黑"/>
                <a:ea typeface="微软雅黑"/>
              </a:rPr>
              <a:t>📡 pDOOH API 调用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ECDC4"/>
                </a:solidFill>
                <a:latin typeface="Consolas"/>
                <a:ea typeface="Consolas"/>
              </a:rPr>
              <a:t>POST /api/v2/mcp/pdooh/tools/call
Content-Type: application/json
{
  "name": "pdooh_audience_insight",
  "arguments": {
    "product_desc": "维他奶健康植物蛋白饮料，
                    目标城市年轻白领
                    和注重健康的中产家庭，
                    主打早餐和下午茶场景",
    "target_city": "广州",
    "budget_hint": 300000
  }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⏱ 响应耗时：1.2 秒（实测）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A04A"/>
                </a:solidFill>
                <a:latin typeface="微软雅黑"/>
                <a:ea typeface="微软雅黑"/>
              </a:rPr>
              <a:t>✅ AI 返回结果（实测）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548640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💡 「维他奶健康植物蛋白饮料，目标城市年轻白领和注重健康的中产家庭，主打早餐和下午茶场景」目标人群与 3 块屏匹配，建议预算 ≥ 2万/月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71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微软雅黑"/>
                <a:ea typeface="微软雅黑"/>
              </a:rPr>
              <a:t>📺 AI 推荐投放屏（3 块）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3383280"/>
          <a:ext cx="5486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1097280"/>
                <a:gridCol w="1645920"/>
              </a:tblGrid>
              <a:tr h="32004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屏名称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区域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房价段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日曝光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32004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天河城社区门禁屏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3,200/天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猎德花园广告屏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5,100/天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番禺奥园入口屏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番禺区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1,800/天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217920" y="4846320"/>
            <a:ext cx="5486400" cy="1280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微软雅黑"/>
                <a:ea typeface="微软雅黑"/>
              </a:rPr>
              <a:t>💰 预算建议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3035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建议预算：建议预算 ≥ 2万/月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聚焦：年轻白领 + 中产家庭社区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MCP 5002 · 智能选屏 - 广州 TOP 5 智能屏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pdooh_query_smart_screen_2025 · 维他奶核心场景：年轻家庭 + 早餐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🏙️ 广州智能屏 2025 · 设备数 TOP 5 楼盘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488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5486400"/>
                <a:gridCol w="1645920"/>
              </a:tblGrid>
              <a:tr h="3810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楼盘名称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区县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详细地址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设备数量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3810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南国奥园小区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番禺区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广州市番禺区钟村街道汉溪大道东100号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亚太新城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增城区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广州市增城区广群路与汇太中路交叉路口往西南约90米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保利水晶花园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花都区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广州市花都区岭东路与岐北路交叉路口往西北约120米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保利城花园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花都区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广州市花都区保利城花园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10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富力金港新城东区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花都区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花都区金谷北路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🏙️ 广州高净值门禁 TOP 5（pdooh_query_access_points）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02920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2286000"/>
                <a:gridCol w="1828800"/>
                <a:gridCol w="1828800"/>
              </a:tblGrid>
              <a:tr h="2286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楼盘名称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区域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均价(元/平)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总户数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媒体面数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2286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华南碧桂园翠湖居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番禺区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¥161,383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中海观园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¥144,998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523.0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286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利丰苑A座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花都区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¥140,000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256.0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利雅湾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天河区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¥139,750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992.0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286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聚龙明珠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越秀区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¥130,597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393.0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Tom 5003 · 自动生成方案（实测 3.5 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plan/generate · 维他奶 30 万 / 4 周 / 广州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5176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A2E5C"/>
                </a:solidFill>
                <a:latin typeface="微软雅黑"/>
                <a:ea typeface="微软雅黑"/>
              </a:rPr>
              <a:t>¥300,000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总预算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4 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65176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7373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6B00"/>
                </a:solidFill>
                <a:latin typeface="微软雅黑"/>
                <a:ea typeface="微软雅黑"/>
              </a:rPr>
              <a:t>127,457,890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总曝光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≈ 1.27 亿次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265176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6B00"/>
                </a:solidFill>
                <a:latin typeface="微软雅黑"/>
                <a:ea typeface="微软雅黑"/>
              </a:rPr>
              <a:t>¥5.69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平均 CPM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千人成本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554480"/>
            <a:ext cx="265176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7373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A2E5C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媒体组合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单元门+广告门
+智能屏+App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📋 媒体组合明细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1148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286000"/>
                <a:gridCol w="1828800"/>
                <a:gridCol w="2560320"/>
              </a:tblGrid>
              <a:tr h="36576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媒体类型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数量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预算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CPM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36576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单元门灯箱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¥105,000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¥7.17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广告门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¥90,000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¥2.73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智能屏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7500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开门App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¥45,000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¥11.9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15.0%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A04A"/>
                </a:solidFill>
                <a:latin typeface="微软雅黑"/>
                <a:ea typeface="微软雅黑"/>
              </a:rPr>
              <a:t>💡 智能配比：单元门为主（早餐场景覆盖），广告门补高净值（品牌升级），App 引流到线下购买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Tom 5003 · CPM 追踪 + 媒体对比（v2 新增）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cpm/track + cpm/compare · 维他奶媒体选型决策依据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📊 单元门 vs 广告门 · CPM 实测对比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488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822960"/>
                <a:gridCol w="822960"/>
                <a:gridCol w="822960"/>
                <a:gridCol w="822960"/>
              </a:tblGrid>
              <a:tr h="4572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单价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UV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PV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总成本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CPM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4572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单元门 (100面)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¥15/周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21,335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836,332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¥7.17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广告门 (50面)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¥125/周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150,000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9,172,800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¥25,000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¥2.73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组合方案 (150面)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10,009,132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¥31,000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¥3.1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📈 单元门 4 周 CPM 追踪 (广州)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48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覆盖区域：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514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找到 100 个点位, 数量 1002.0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880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预估 UV: 213,777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46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预估 PV: 8,380,047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611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预估成本: ¥60,120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776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A04A"/>
                </a:solidFill>
                <a:latin typeface="微软雅黑"/>
                <a:ea typeface="微软雅黑"/>
              </a:rPr>
              <a:t>CPM: ¥6.68/千人（动态）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1124712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微软雅黑"/>
                <a:ea typeface="微软雅黑"/>
              </a:rPr>
              <a:t>📐 CPM 计算公式（Tom 5003 返回）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  <a:ea typeface="Consolas"/>
              </a:rPr>
              <a:t>  • 公式: UV=N*U*P*beta, PV=UV*gamma*天数*delta, CPM=广告费/(PV/1000)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onsolas"/>
                <a:ea typeface="Consolas"/>
              </a:rPr>
              <a:t>  • CPM 区间: 6-8元/千人（动态）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onsolas"/>
                <a:ea typeface="Consolas"/>
              </a:rPr>
              <a:t>  • 计算器: http://duckwolf.cn/cpm.html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微软雅黑"/>
                <a:ea typeface="微软雅黑"/>
              </a:rPr>
              <a:t>💡 关键洞察：广告门 CPM 仅为单元门 38%（¥2.73 vs ¥7.17）— 大规模铺货首选广告门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ROI 5004 · 三场景 ROI（实测 0.5 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roi · 维他奶 2000 框 / 4 周 / 食品饮料行业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3840480"/>
          </a:xfrm>
          <a:prstGeom prst="rect">
            <a:avLst/>
          </a:prstGeom>
          <a:solidFill>
            <a:srgbClr val="F5F7F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悲观场景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E74C3C"/>
                </a:solidFill>
                <a:latin typeface="微软雅黑"/>
                <a:ea typeface="微软雅黑"/>
              </a:rPr>
              <a:t>ROI 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8周 LTV: ¥127,795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微软雅黑"/>
                <a:ea typeface="微软雅黑"/>
              </a:rPr>
              <a:t>订单数: 2,048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微软雅黑"/>
                <a:ea typeface="微软雅黑"/>
              </a:rPr>
              <a:t>首期销售: ¥10,240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31089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保守估计
仅计扫码+到店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1554480"/>
            <a:ext cx="3657600" cy="3840480"/>
          </a:xfrm>
          <a:prstGeom prst="rect">
            <a:avLst/>
          </a:prstGeom>
          <a:solidFill>
            <a:srgbClr val="F5F7FA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1554480"/>
            <a:ext cx="3657600" cy="548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645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中性场景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2860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6B00"/>
                </a:solidFill>
                <a:latin typeface="微软雅黑"/>
                <a:ea typeface="微软雅黑"/>
              </a:rPr>
              <a:t>ROI 98%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017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8周 LTV: ¥511,056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337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微软雅黑"/>
                <a:ea typeface="微软雅黑"/>
              </a:rPr>
              <a:t>订单数: 2,457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611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微软雅黑"/>
                <a:ea typeface="微软雅黑"/>
              </a:rPr>
              <a:t>首期销售: ¥30,700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4114800"/>
            <a:ext cx="31089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416052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基准估计
含 8 周 LTV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66175" y="1554480"/>
            <a:ext cx="3657600" cy="3840480"/>
          </a:xfrm>
          <a:prstGeom prst="rect">
            <a:avLst/>
          </a:prstGeom>
          <a:solidFill>
            <a:srgbClr val="F5F7FA"/>
          </a:solidFill>
          <a:ln w="19050">
            <a:solidFill>
              <a:srgbClr val="2E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66175" y="1554480"/>
            <a:ext cx="3657600" cy="548640"/>
          </a:xfrm>
          <a:prstGeom prst="rect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1645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乐观场景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22860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2EA04A"/>
                </a:solidFill>
                <a:latin typeface="微软雅黑"/>
                <a:ea typeface="微软雅黑"/>
              </a:rPr>
              <a:t>ROI 346%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3017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8周 LTV: ¥1,801,800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3337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微软雅黑"/>
                <a:ea typeface="微软雅黑"/>
              </a:rPr>
              <a:t>订单数: 3,003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5" y="3611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微软雅黑"/>
                <a:ea typeface="微软雅黑"/>
              </a:rPr>
              <a:t>首期销售: ¥75,000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0495" y="4114800"/>
            <a:ext cx="31089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0495" y="416052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理想估计
含复购+口碑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📊 覆盖基准：UV 341,360 人  ·  投入 ¥520,000  ·  食品饮料行业基准 6 步公式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微软雅黑"/>
                <a:ea typeface="微软雅黑"/>
              </a:rPr>
              <a:t>→ 即使最悲观场景，ROI 也达 25%（投入 ¥30万 → 收回 ¥7.6万净利润）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ROI 5004 · 媒体横向对比（v2 新增）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compare · 亲邻社区门 vs 行业其他媒体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🎯 户外媒体 ROI 横向对比（按首期 ROI 排序）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743200"/>
                <a:gridCol w="3017520"/>
              </a:tblGrid>
              <a:tr h="391885"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梯队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媒体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首期 ROI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LTV ROI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391885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社区单元门(本方案)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61-613%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150-2500%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梯媒(分众)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180-250%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400-600%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1885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地铁广告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100-180%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200-400%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楼宇宇LCD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60-100%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120-200%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1885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电梯框架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40-80%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100-180%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线上效果广告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300-500%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800-1200%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微软雅黑"/>
                <a:ea typeface="微软雅黑"/>
              </a:rPr>
              <a:t>💡 关键洞察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 • 社区单元门LTV ROI 150-2500%与线上效果广告同属第一梯队，但具备线下流量确定性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 • 亲邻主打的社区门媒体与线上效果广告同属第一梯队，线下流量确定性是其独特优势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微软雅黑"/>
                <a:ea typeface="微软雅黑"/>
              </a:rPr>
              <a:t>  • 维他奶选择「广告门 + 单元门」组合，正好命中第一梯队的「社区单元门方案」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竞品 5005 · 行业情报（v2 新增）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intelligence + brands · 50+ 品牌库 · 14 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🏷️ 14 大行业分类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48640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快消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286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日化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9456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286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汽车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34639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7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科技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2834639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292607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零售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834639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92607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餐饮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747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66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教育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4747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3566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文旅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47472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566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家电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148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06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母婴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41148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4206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美妆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1148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4206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通讯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754879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4631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酒水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4754879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484631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饮料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📰 食品饮料行业 - 竞品情报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011680"/>
            <a:ext cx="548640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微软雅黑"/>
                <a:ea typeface="微软雅黑"/>
              </a:rPr>
              <a:t>⚠️ 当前食品饮料行业情报: 0 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4688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维他奶、豆本豆、露露等品牌尚未入库
（已为亲邻规划数据补全任务）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108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微软雅黑"/>
                <a:ea typeface="微软雅黑"/>
              </a:rPr>
              <a:t>📰 已有情报行业举例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6217920" y="356616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3200400"/>
              </a:tblGrid>
              <a:tr h="326571"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行业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条数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覆盖品牌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326571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汽车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比亚迪/小鹏 2026-06-17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餐饮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麦当劳/肯德基近期动态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6571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快消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日化用品最新动态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科技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腾讯/阿里/字节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6571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家电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美的/格力/海尔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通讯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中国移动/电信/联通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微软雅黑"/>
                <a:ea typeface="微软雅黑"/>
              </a:rPr>
              <a:t>→ 已用 Python SDK 验证：4 端口 40 端点全部可用，集成成本极低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E5C"/>
                </a:solidFill>
                <a:latin typeface="微软雅黑"/>
                <a:ea typeface="微软雅黑"/>
              </a:rPr>
              <a:t>商业价值：维他奶案例 · 7.6 秒 vs 3 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微软雅黑"/>
                <a:ea typeface="微软雅黑"/>
              </a:rPr>
              <a:t>三阶段落地 · 下一步：选 1 个真实在谈客户，跑完整方案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13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微软雅黑"/>
                <a:ea typeface="微软雅黑"/>
              </a:rPr>
              <a:t>AIAdPlacer · 亲邻传媒 · 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2560320"/>
          </a:xfrm>
          <a:prstGeom prst="rect">
            <a:avLst/>
          </a:prstGeom>
          <a:solidFill>
            <a:srgbClr val="F5F7FA"/>
          </a:solidFill>
          <a:ln w="19050">
            <a:solidFill>
              <a:srgbClr val="0A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0A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阶段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A2E5C"/>
                </a:solidFill>
                <a:latin typeface="微软雅黑"/>
                <a:ea typeface="微软雅黑"/>
              </a:rPr>
              <a:t>亲邻内部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6B00"/>
                </a:solidFill>
                <a:latin typeface="微软雅黑"/>
                <a:ea typeface="微软雅黑"/>
              </a:rPr>
              <a:t>3 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用维他奶案例做样板
跑通 1-2 个真实客户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554480"/>
            <a:ext cx="3657600" cy="2560320"/>
          </a:xfrm>
          <a:prstGeom prst="rect">
            <a:avLst/>
          </a:prstGeom>
          <a:solidFill>
            <a:srgbClr val="F5F7FA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554480"/>
            <a:ext cx="3657600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600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阶段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148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6B00"/>
                </a:solidFill>
                <a:latin typeface="微软雅黑"/>
                <a:ea typeface="微软雅黑"/>
              </a:rPr>
              <a:t>行业群售卖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560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6B00"/>
                </a:solidFill>
                <a:latin typeface="微软雅黑"/>
                <a:ea typeface="微软雅黑"/>
              </a:rPr>
              <a:t>6 个月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01752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按行业打包（快消/汽车/美妆）
¥30-50k 咨询/定制费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6175" y="1554480"/>
            <a:ext cx="3657600" cy="2560320"/>
          </a:xfrm>
          <a:prstGeom prst="rect">
            <a:avLst/>
          </a:prstGeom>
          <a:solidFill>
            <a:srgbClr val="F5F7FA"/>
          </a:solidFill>
          <a:ln w="19050">
            <a:solidFill>
              <a:srgbClr val="2E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5" y="1554480"/>
            <a:ext cx="3657600" cy="457200"/>
          </a:xfrm>
          <a:prstGeom prst="rect">
            <a:avLst/>
          </a:prstGeom>
          <a:solidFill>
            <a:srgbClr val="2E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600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阶段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148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EA04A"/>
                </a:solidFill>
                <a:latin typeface="微软雅黑"/>
                <a:ea typeface="微软雅黑"/>
              </a:rPr>
              <a:t>SaaS 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2560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6B00"/>
                </a:solidFill>
                <a:latin typeface="微软雅黑"/>
                <a:ea typeface="微软雅黑"/>
              </a:rPr>
              <a:t>12 个月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301752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  <a:ea typeface="微软雅黑"/>
              </a:rPr>
              <a:t>订阅 ¥99-299/月/账户
月入 2-5 万稳定收入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微软雅黑"/>
                <a:ea typeface="微软雅黑"/>
              </a:rPr>
              <a:t>✅ 4 端口 40 端点全部实测可用（已用 aiadplacer_client.py 验证）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47548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828800"/>
                <a:gridCol w="7132320"/>
              </a:tblGrid>
              <a:tr h="27432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Agent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端点数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验证情况</a:t>
                      </a:r>
                    </a:p>
                  </a:txBody>
                  <a:tcPr>
                    <a:solidFill>
                      <a:srgbClr val="0A2E5C"/>
                    </a:solidFill>
                  </a:tcPr>
                </a:tc>
              </a:tr>
              <a:tr h="27432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MCP 5002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22 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audience_insight/smart_screen_2025/access_points/customers/... 实测 200-1200ms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Tom 5003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6 端点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plan/pricing/cpm_track/cpm_compare 实测 500-3500ms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ROI 5004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5 端点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roi/formula/compare 实测 200-800ms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50000" rIns="50000"/>
                    <a:lstStyle/>
                    <a:p>
                      <a:pPr algn="l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竞品 5005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7 端点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90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</a:rPr>
                        <a:t>intelligence/competitors/brands/industries 实测 100-600ms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🚀 下一步：选 1 个真实在谈客户（建议：维他奶/屈臣氏/小鹏），用 AI 跑完整方案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